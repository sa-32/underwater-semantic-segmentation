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6ABC67-5343-4C92-94CF-210AE7FE98FD}">
  <a:tblStyle styleId="{396ABC67-5343-4C92-94CF-210AE7FE98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Good morning everyone. I'm presenting our work on improving transformer-based segmentation for underwater images through domain-specific fine-tuning.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a357b76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a357b768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Quick roadmap: the problem, related work, our approach, the dataset, the metrics, the results, and what we conclude.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bbb40b829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bbb40b829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Underwater images suffer from absorption, scattering, uneven light and blur. Models pretrained on land images struggle here. Our question is simple: how much does fine-tuning on underwater data help SegFormer and Mask2Former?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bbb40b829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bbb40b829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CNN-based methods such as FCN, U-Net and DeepLab were strong but local. Transformers brought global context. SegFormer and Mask2Former are two leading designs. Underwater-specific work exists, but we wanted a clean before-and-after view of plain fine-tuning.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bbb40b829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bbb40b829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Both models start from pretrained weights. We swap the final layer to eight SUIM classes and fine-tune for ten epochs with AdamW. SegFormer uses cross-entropy; Mask2Former uses a mask loss with BCE and Dice plus a classification loss.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bb40b829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bb40b829_0_4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We use SUIM: over 1,500 images with pixel-level labels for fish, reefs, plants, wrecks, divers, robots and sea-floor. Images are resized to 256 by 256 and split 70-15-15. The color masks are converted to class indices.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bbb40b829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bbb40b829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We report IoU, Dice and pixel accuracy. IoU and Dice measure region overlap; pixel accuracy is the fraction of correctly labeled pixels.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bbb40b829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bbb40b829_0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Before fine-tuning both models are essentially unusable: IoU around 0.03. After fine-tuning, IoU is about 0.62 for SegFormer and 0.63 for Mask2Former. Mask2Former is slightly better and trained in 70 minutes versus 350 for SegFormer.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bbb40b829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bbb40b829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Domain adaptation is what makes these models work underwater. Next we want to test on multiple domains and with foundation models. Thank you, I'm happy to take questions.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bbb40b829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bbb40b829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References, as listed in the paper.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762000" y="-381000"/>
            <a:ext cx="11049000" cy="6667500"/>
            <a:chOff x="-762000" y="-381000"/>
            <a:chExt cx="11049000" cy="6667500"/>
          </a:xfrm>
        </p:grpSpPr>
        <p:sp>
          <p:nvSpPr>
            <p:cNvPr id="55" name="Google Shape;55;p13"/>
            <p:cNvSpPr/>
            <p:nvPr/>
          </p:nvSpPr>
          <p:spPr>
            <a:xfrm>
              <a:off x="0" y="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0" y="508635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-762000" y="2857500"/>
              <a:ext cx="3429000" cy="3429000"/>
            </a:xfrm>
            <a:prstGeom prst="ellipse">
              <a:avLst/>
            </a:prstGeom>
            <a:solidFill>
              <a:srgbClr val="0284C7">
                <a:alpha val="3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6096000" y="-381000"/>
              <a:ext cx="4191000" cy="4191000"/>
            </a:xfrm>
            <a:prstGeom prst="ellipse">
              <a:avLst/>
            </a:prstGeom>
            <a:solidFill>
              <a:srgbClr val="0F172A">
                <a:alpha val="2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762000" y="1238250"/>
              <a:ext cx="76200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3619500" y="1476375"/>
            <a:ext cx="1905000" cy="342900"/>
            <a:chOff x="0" y="0"/>
            <a:chExt cx="1905000" cy="342900"/>
          </a:xfrm>
        </p:grpSpPr>
        <p:sp>
          <p:nvSpPr>
            <p:cNvPr id="61" name="Google Shape;61;p13"/>
            <p:cNvSpPr/>
            <p:nvPr/>
          </p:nvSpPr>
          <p:spPr>
            <a:xfrm>
              <a:off x="0" y="0"/>
              <a:ext cx="1905000" cy="34290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0" y="0"/>
              <a:ext cx="1905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Paper ID - 432</a:t>
              </a:r>
              <a:endParaRPr sz="13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13"/>
          <p:cNvSpPr txBox="1"/>
          <p:nvPr/>
        </p:nvSpPr>
        <p:spPr>
          <a:xfrm>
            <a:off x="762000" y="2000250"/>
            <a:ext cx="76200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Improving Transformer-Based Underwater Semantic Segmentation Through Domain-Specific Fine-Tuning</a:t>
            </a:r>
            <a:endParaRPr sz="2200"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4">
            <a:alphaModFix/>
          </a:blip>
          <a:srcRect l="209" r="209"/>
          <a:stretch/>
        </p:blipFill>
        <p:spPr>
          <a:xfrm>
            <a:off x="7810500" y="209550"/>
            <a:ext cx="714300" cy="8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8125"/>
            <a:ext cx="809700" cy="8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 rotWithShape="1">
          <a:blip r:embed="rId6">
            <a:alphaModFix/>
          </a:blip>
          <a:srcRect t="661" b="651"/>
          <a:stretch/>
        </p:blipFill>
        <p:spPr>
          <a:xfrm>
            <a:off x="3524250" y="361950"/>
            <a:ext cx="2095500" cy="57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13"/>
          <p:cNvGrpSpPr/>
          <p:nvPr/>
        </p:nvGrpSpPr>
        <p:grpSpPr>
          <a:xfrm>
            <a:off x="2036888" y="3640200"/>
            <a:ext cx="5070234" cy="666900"/>
            <a:chOff x="0" y="0"/>
            <a:chExt cx="2667000" cy="666900"/>
          </a:xfrm>
        </p:grpSpPr>
        <p:sp>
          <p:nvSpPr>
            <p:cNvPr id="68" name="Google Shape;68;p13"/>
            <p:cNvSpPr/>
            <p:nvPr/>
          </p:nvSpPr>
          <p:spPr>
            <a:xfrm>
              <a:off x="0" y="0"/>
              <a:ext cx="2667000" cy="666900"/>
            </a:xfrm>
            <a:prstGeom prst="roundRect">
              <a:avLst>
                <a:gd name="adj" fmla="val 14285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0" y="0"/>
              <a:ext cx="2667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 b="1" i="0" dirty="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Santosh Anand and Dr. Lalengmawia Chhangte</a:t>
              </a:r>
            </a:p>
            <a:p>
              <a:pPr algn="ctr">
                <a:spcBef>
                  <a:spcPts val="300"/>
                </a:spcBef>
                <a:buNone/>
              </a:pPr>
              <a:r>
                <a:rPr lang="en" sz="900" b="0" i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National Institute of Technology Mizoram, India</a:t>
              </a:r>
              <a:endParaRPr sz="13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p13"/>
          <p:cNvSpPr txBox="1"/>
          <p:nvPr/>
        </p:nvSpPr>
        <p:spPr>
          <a:xfrm>
            <a:off x="0" y="4650900"/>
            <a:ext cx="9061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</a:rPr>
              <a:t>4th International Conference on Artificial Intelligence, Computing Technologies, Internet of Things (IoT) and Data Analytics (AICTA 2026), </a:t>
            </a:r>
            <a:endParaRPr sz="10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2"/>
                </a:solidFill>
              </a:rPr>
              <a:t>October 2-3, 2026, NIT Silchar</a:t>
            </a:r>
            <a:endParaRPr sz="10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4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76" name="Google Shape;76;p14"/>
            <p:cNvSpPr/>
            <p:nvPr/>
          </p:nvSpPr>
          <p:spPr>
            <a:xfrm>
              <a:off x="0" y="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0" y="508635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8" name="Google Shape;78;p14"/>
            <p:cNvCxnSpPr/>
            <p:nvPr/>
          </p:nvCxnSpPr>
          <p:spPr>
            <a:xfrm>
              <a:off x="762000" y="102870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9" name="Google Shape;79;p14"/>
          <p:cNvPicPr preferRelativeResize="0"/>
          <p:nvPr/>
        </p:nvPicPr>
        <p:blipFill rotWithShape="1">
          <a:blip r:embed="rId4">
            <a:alphaModFix/>
          </a:blip>
          <a:srcRect t="40" b="30"/>
          <a:stretch/>
        </p:blipFill>
        <p:spPr>
          <a:xfrm>
            <a:off x="7810500" y="152400"/>
            <a:ext cx="666900" cy="7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2400"/>
            <a:ext cx="743100" cy="7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 rotWithShape="1">
          <a:blip r:embed="rId6">
            <a:alphaModFix/>
          </a:blip>
          <a:srcRect t="660" b="-660"/>
          <a:stretch/>
        </p:blipFill>
        <p:spPr>
          <a:xfrm>
            <a:off x="3524250" y="266700"/>
            <a:ext cx="2095500" cy="5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762000" y="114300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Presentation Outline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14"/>
          <p:cNvGrpSpPr/>
          <p:nvPr/>
        </p:nvGrpSpPr>
        <p:grpSpPr>
          <a:xfrm>
            <a:off x="762000" y="1666875"/>
            <a:ext cx="7620000" cy="2628900"/>
            <a:chOff x="762000" y="1666875"/>
            <a:chExt cx="7620000" cy="2628900"/>
          </a:xfrm>
        </p:grpSpPr>
        <p:grpSp>
          <p:nvGrpSpPr>
            <p:cNvPr id="84" name="Google Shape;84;p14"/>
            <p:cNvGrpSpPr/>
            <p:nvPr/>
          </p:nvGrpSpPr>
          <p:grpSpPr>
            <a:xfrm>
              <a:off x="762000" y="1666875"/>
              <a:ext cx="3619500" cy="571500"/>
              <a:chOff x="0" y="0"/>
              <a:chExt cx="3619500" cy="571500"/>
            </a:xfrm>
          </p:grpSpPr>
          <p:sp>
            <p:nvSpPr>
              <p:cNvPr id="85" name="Google Shape;85;p14"/>
              <p:cNvSpPr/>
              <p:nvPr/>
            </p:nvSpPr>
            <p:spPr>
              <a:xfrm>
                <a:off x="0" y="0"/>
                <a:ext cx="3619500" cy="571500"/>
              </a:xfrm>
              <a:prstGeom prst="roundRect">
                <a:avLst>
                  <a:gd name="adj" fmla="val 16666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4"/>
              <p:cNvSpPr/>
              <p:nvPr/>
            </p:nvSpPr>
            <p:spPr>
              <a:xfrm>
                <a:off x="114300" y="114300"/>
                <a:ext cx="34290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4"/>
              <p:cNvSpPr txBox="1"/>
              <p:nvPr/>
            </p:nvSpPr>
            <p:spPr>
              <a:xfrm>
                <a:off x="114300" y="114300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14"/>
              <p:cNvSpPr txBox="1"/>
              <p:nvPr/>
            </p:nvSpPr>
            <p:spPr>
              <a:xfrm>
                <a:off x="571500" y="0"/>
                <a:ext cx="2905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Introduction</a:t>
                </a:r>
                <a:endParaRPr sz="13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" name="Google Shape;89;p14"/>
            <p:cNvGrpSpPr/>
            <p:nvPr/>
          </p:nvGrpSpPr>
          <p:grpSpPr>
            <a:xfrm>
              <a:off x="762000" y="2352675"/>
              <a:ext cx="3619500" cy="571500"/>
              <a:chOff x="0" y="0"/>
              <a:chExt cx="3619500" cy="571500"/>
            </a:xfrm>
          </p:grpSpPr>
          <p:sp>
            <p:nvSpPr>
              <p:cNvPr id="90" name="Google Shape;90;p14"/>
              <p:cNvSpPr/>
              <p:nvPr/>
            </p:nvSpPr>
            <p:spPr>
              <a:xfrm>
                <a:off x="0" y="0"/>
                <a:ext cx="3619500" cy="571500"/>
              </a:xfrm>
              <a:prstGeom prst="roundRect">
                <a:avLst>
                  <a:gd name="adj" fmla="val 16666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4"/>
              <p:cNvSpPr/>
              <p:nvPr/>
            </p:nvSpPr>
            <p:spPr>
              <a:xfrm>
                <a:off x="114300" y="114300"/>
                <a:ext cx="34290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4"/>
              <p:cNvSpPr txBox="1"/>
              <p:nvPr/>
            </p:nvSpPr>
            <p:spPr>
              <a:xfrm>
                <a:off x="114300" y="114300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14"/>
              <p:cNvSpPr txBox="1"/>
              <p:nvPr/>
            </p:nvSpPr>
            <p:spPr>
              <a:xfrm>
                <a:off x="571500" y="0"/>
                <a:ext cx="2905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Background</a:t>
                </a:r>
                <a:endParaRPr sz="13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" name="Google Shape;94;p14"/>
            <p:cNvGrpSpPr/>
            <p:nvPr/>
          </p:nvGrpSpPr>
          <p:grpSpPr>
            <a:xfrm>
              <a:off x="762000" y="3038475"/>
              <a:ext cx="3619500" cy="571500"/>
              <a:chOff x="0" y="0"/>
              <a:chExt cx="3619500" cy="571500"/>
            </a:xfrm>
          </p:grpSpPr>
          <p:sp>
            <p:nvSpPr>
              <p:cNvPr id="95" name="Google Shape;95;p14"/>
              <p:cNvSpPr/>
              <p:nvPr/>
            </p:nvSpPr>
            <p:spPr>
              <a:xfrm>
                <a:off x="0" y="0"/>
                <a:ext cx="3619500" cy="571500"/>
              </a:xfrm>
              <a:prstGeom prst="roundRect">
                <a:avLst>
                  <a:gd name="adj" fmla="val 16666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4"/>
              <p:cNvSpPr/>
              <p:nvPr/>
            </p:nvSpPr>
            <p:spPr>
              <a:xfrm>
                <a:off x="114300" y="114300"/>
                <a:ext cx="34290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4"/>
              <p:cNvSpPr txBox="1"/>
              <p:nvPr/>
            </p:nvSpPr>
            <p:spPr>
              <a:xfrm>
                <a:off x="114300" y="114300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14"/>
              <p:cNvSpPr txBox="1"/>
              <p:nvPr/>
            </p:nvSpPr>
            <p:spPr>
              <a:xfrm>
                <a:off x="571500" y="0"/>
                <a:ext cx="2905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Proposed Work</a:t>
                </a:r>
                <a:endParaRPr sz="13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" name="Google Shape;99;p14"/>
            <p:cNvGrpSpPr/>
            <p:nvPr/>
          </p:nvGrpSpPr>
          <p:grpSpPr>
            <a:xfrm>
              <a:off x="762000" y="3724275"/>
              <a:ext cx="3619500" cy="571500"/>
              <a:chOff x="0" y="0"/>
              <a:chExt cx="3619500" cy="571500"/>
            </a:xfrm>
          </p:grpSpPr>
          <p:sp>
            <p:nvSpPr>
              <p:cNvPr id="100" name="Google Shape;100;p14"/>
              <p:cNvSpPr/>
              <p:nvPr/>
            </p:nvSpPr>
            <p:spPr>
              <a:xfrm>
                <a:off x="0" y="0"/>
                <a:ext cx="3619500" cy="571500"/>
              </a:xfrm>
              <a:prstGeom prst="roundRect">
                <a:avLst>
                  <a:gd name="adj" fmla="val 16666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4"/>
              <p:cNvSpPr/>
              <p:nvPr/>
            </p:nvSpPr>
            <p:spPr>
              <a:xfrm>
                <a:off x="114300" y="114300"/>
                <a:ext cx="34290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4"/>
              <p:cNvSpPr txBox="1"/>
              <p:nvPr/>
            </p:nvSpPr>
            <p:spPr>
              <a:xfrm>
                <a:off x="114300" y="114300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4"/>
              <p:cNvSpPr txBox="1"/>
              <p:nvPr/>
            </p:nvSpPr>
            <p:spPr>
              <a:xfrm>
                <a:off x="571500" y="0"/>
                <a:ext cx="2905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Dataset Description</a:t>
                </a:r>
                <a:endParaRPr sz="13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" name="Google Shape;104;p14"/>
            <p:cNvGrpSpPr/>
            <p:nvPr/>
          </p:nvGrpSpPr>
          <p:grpSpPr>
            <a:xfrm>
              <a:off x="4762500" y="1666875"/>
              <a:ext cx="3619500" cy="571500"/>
              <a:chOff x="0" y="0"/>
              <a:chExt cx="3619500" cy="571500"/>
            </a:xfrm>
          </p:grpSpPr>
          <p:sp>
            <p:nvSpPr>
              <p:cNvPr id="105" name="Google Shape;105;p14"/>
              <p:cNvSpPr/>
              <p:nvPr/>
            </p:nvSpPr>
            <p:spPr>
              <a:xfrm>
                <a:off x="0" y="0"/>
                <a:ext cx="3619500" cy="571500"/>
              </a:xfrm>
              <a:prstGeom prst="roundRect">
                <a:avLst>
                  <a:gd name="adj" fmla="val 16666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4"/>
              <p:cNvSpPr/>
              <p:nvPr/>
            </p:nvSpPr>
            <p:spPr>
              <a:xfrm>
                <a:off x="114300" y="114300"/>
                <a:ext cx="34290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4"/>
              <p:cNvSpPr txBox="1"/>
              <p:nvPr/>
            </p:nvSpPr>
            <p:spPr>
              <a:xfrm>
                <a:off x="114300" y="114300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05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4"/>
              <p:cNvSpPr txBox="1"/>
              <p:nvPr/>
            </p:nvSpPr>
            <p:spPr>
              <a:xfrm>
                <a:off x="571500" y="0"/>
                <a:ext cx="2905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Performance Measures</a:t>
                </a:r>
                <a:endParaRPr sz="13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" name="Google Shape;109;p14"/>
            <p:cNvGrpSpPr/>
            <p:nvPr/>
          </p:nvGrpSpPr>
          <p:grpSpPr>
            <a:xfrm>
              <a:off x="4762500" y="2352675"/>
              <a:ext cx="3619500" cy="571500"/>
              <a:chOff x="0" y="0"/>
              <a:chExt cx="3619500" cy="571500"/>
            </a:xfrm>
          </p:grpSpPr>
          <p:sp>
            <p:nvSpPr>
              <p:cNvPr id="110" name="Google Shape;110;p14"/>
              <p:cNvSpPr/>
              <p:nvPr/>
            </p:nvSpPr>
            <p:spPr>
              <a:xfrm>
                <a:off x="0" y="0"/>
                <a:ext cx="3619500" cy="571500"/>
              </a:xfrm>
              <a:prstGeom prst="roundRect">
                <a:avLst>
                  <a:gd name="adj" fmla="val 16666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4"/>
              <p:cNvSpPr/>
              <p:nvPr/>
            </p:nvSpPr>
            <p:spPr>
              <a:xfrm>
                <a:off x="114300" y="114300"/>
                <a:ext cx="34290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4"/>
              <p:cNvSpPr txBox="1"/>
              <p:nvPr/>
            </p:nvSpPr>
            <p:spPr>
              <a:xfrm>
                <a:off x="114300" y="114300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06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4"/>
              <p:cNvSpPr txBox="1"/>
              <p:nvPr/>
            </p:nvSpPr>
            <p:spPr>
              <a:xfrm>
                <a:off x="571500" y="0"/>
                <a:ext cx="2905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Results and Analysis</a:t>
                </a:r>
                <a:endParaRPr sz="13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" name="Google Shape;114;p14"/>
            <p:cNvGrpSpPr/>
            <p:nvPr/>
          </p:nvGrpSpPr>
          <p:grpSpPr>
            <a:xfrm>
              <a:off x="4762500" y="3038475"/>
              <a:ext cx="3619500" cy="571500"/>
              <a:chOff x="0" y="0"/>
              <a:chExt cx="3619500" cy="571500"/>
            </a:xfrm>
          </p:grpSpPr>
          <p:sp>
            <p:nvSpPr>
              <p:cNvPr id="115" name="Google Shape;115;p14"/>
              <p:cNvSpPr/>
              <p:nvPr/>
            </p:nvSpPr>
            <p:spPr>
              <a:xfrm>
                <a:off x="0" y="0"/>
                <a:ext cx="3619500" cy="571500"/>
              </a:xfrm>
              <a:prstGeom prst="roundRect">
                <a:avLst>
                  <a:gd name="adj" fmla="val 16666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4"/>
              <p:cNvSpPr/>
              <p:nvPr/>
            </p:nvSpPr>
            <p:spPr>
              <a:xfrm>
                <a:off x="114300" y="114300"/>
                <a:ext cx="34290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4"/>
              <p:cNvSpPr txBox="1"/>
              <p:nvPr/>
            </p:nvSpPr>
            <p:spPr>
              <a:xfrm>
                <a:off x="114300" y="114300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07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4"/>
              <p:cNvSpPr txBox="1"/>
              <p:nvPr/>
            </p:nvSpPr>
            <p:spPr>
              <a:xfrm>
                <a:off x="571500" y="0"/>
                <a:ext cx="2905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Conclusion and Future Scope</a:t>
                </a:r>
                <a:endParaRPr sz="13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4762500" y="3724275"/>
              <a:ext cx="3619500" cy="571500"/>
              <a:chOff x="0" y="0"/>
              <a:chExt cx="3619500" cy="571500"/>
            </a:xfrm>
          </p:grpSpPr>
          <p:sp>
            <p:nvSpPr>
              <p:cNvPr id="120" name="Google Shape;120;p14"/>
              <p:cNvSpPr/>
              <p:nvPr/>
            </p:nvSpPr>
            <p:spPr>
              <a:xfrm>
                <a:off x="0" y="0"/>
                <a:ext cx="3619500" cy="571500"/>
              </a:xfrm>
              <a:prstGeom prst="roundRect">
                <a:avLst>
                  <a:gd name="adj" fmla="val 16666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4"/>
              <p:cNvSpPr/>
              <p:nvPr/>
            </p:nvSpPr>
            <p:spPr>
              <a:xfrm>
                <a:off x="114300" y="114300"/>
                <a:ext cx="34290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14"/>
              <p:cNvSpPr txBox="1"/>
              <p:nvPr/>
            </p:nvSpPr>
            <p:spPr>
              <a:xfrm>
                <a:off x="114300" y="114300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08</a:t>
                </a:r>
                <a:endParaRPr sz="12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4"/>
              <p:cNvSpPr txBox="1"/>
              <p:nvPr/>
            </p:nvSpPr>
            <p:spPr>
              <a:xfrm>
                <a:off x="571500" y="0"/>
                <a:ext cx="2905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References</a:t>
                </a:r>
                <a:endParaRPr sz="1300" b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4" name="Google Shape;124;p14"/>
          <p:cNvSpPr txBox="1"/>
          <p:nvPr/>
        </p:nvSpPr>
        <p:spPr>
          <a:xfrm>
            <a:off x="0" y="46482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4th International Conference on Artificial Intelligence, Computing Technologies, Internet of Things (IoT) and Data Analytics (AICTA 2026),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October 2-3, 2026, NIT Silchar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5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130" name="Google Shape;130;p15"/>
            <p:cNvSpPr/>
            <p:nvPr/>
          </p:nvSpPr>
          <p:spPr>
            <a:xfrm>
              <a:off x="0" y="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0" y="508635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2" name="Google Shape;132;p15"/>
            <p:cNvCxnSpPr/>
            <p:nvPr/>
          </p:nvCxnSpPr>
          <p:spPr>
            <a:xfrm>
              <a:off x="762000" y="102870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33" name="Google Shape;133;p15"/>
          <p:cNvPicPr preferRelativeResize="0"/>
          <p:nvPr/>
        </p:nvPicPr>
        <p:blipFill rotWithShape="1">
          <a:blip r:embed="rId4">
            <a:alphaModFix/>
          </a:blip>
          <a:srcRect t="40" b="30"/>
          <a:stretch/>
        </p:blipFill>
        <p:spPr>
          <a:xfrm>
            <a:off x="7810500" y="152400"/>
            <a:ext cx="666900" cy="7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2400"/>
            <a:ext cx="743100" cy="7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/>
          <p:cNvPicPr preferRelativeResize="0"/>
          <p:nvPr/>
        </p:nvPicPr>
        <p:blipFill rotWithShape="1">
          <a:blip r:embed="rId6">
            <a:alphaModFix/>
          </a:blip>
          <a:srcRect t="660" b="-660"/>
          <a:stretch/>
        </p:blipFill>
        <p:spPr>
          <a:xfrm>
            <a:off x="3524250" y="266700"/>
            <a:ext cx="2095500" cy="5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762000" y="114300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0" y="46482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4th International Conference on Artificial Intelligence, Computing Technologies, Internet of Things (IoT) and Data Analytics (AICTA 2026),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October 2-3, 2026, NIT Silchar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Question 301"/>
          <p:cNvSpPr/>
          <p:nvPr/>
        </p:nvSpPr>
        <p:spPr>
          <a:xfrm>
            <a:off x="761695" y="1627632"/>
            <a:ext cx="7619695" cy="50292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</p:spPr>
        <p:txBody>
          <a:bodyPr wrap="square" lIns="182880" tIns="45720" rIns="18288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 domain-specific fine-tuning close the gap between terrestrial pretraining and underwater imagery?</a:t>
            </a:r>
          </a:p>
        </p:txBody>
      </p:sp>
      <p:sp>
        <p:nvSpPr>
          <p:cNvPr id="302" name="Card 302"/>
          <p:cNvSpPr/>
          <p:nvPr/>
        </p:nvSpPr>
        <p:spPr>
          <a:xfrm>
            <a:off x="761695" y="2286000"/>
            <a:ext cx="3732124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WHY UNDERWATER SCENES ARE HARD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Light is absorbed and scattered, so colors wash out and contrast drops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Uneven lighting and floating particles blur object edges and fine detail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Popular models are pretrained on land-based images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Direct transfer to underwater scenes performs poorly</a:t>
            </a:r>
          </a:p>
        </p:txBody>
      </p:sp>
      <p:sp>
        <p:nvSpPr>
          <p:cNvPr id="303" name="Card 303"/>
          <p:cNvSpPr/>
          <p:nvPr/>
        </p:nvSpPr>
        <p:spPr>
          <a:xfrm>
            <a:off x="4649267" y="2286000"/>
            <a:ext cx="3732124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WHAT THIS PAPER DOES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Evaluates SegFormer and Mask2Former on underwater images as-is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Fine-tunes both on the SUIM dataset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Measures the gain with IoU, Dice and Pixel Accuracy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Compares pretrained and fine-tuned models side by side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6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144" name="Google Shape;144;p16"/>
            <p:cNvSpPr/>
            <p:nvPr/>
          </p:nvSpPr>
          <p:spPr>
            <a:xfrm>
              <a:off x="0" y="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0" y="508635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6" name="Google Shape;146;p16"/>
            <p:cNvCxnSpPr/>
            <p:nvPr/>
          </p:nvCxnSpPr>
          <p:spPr>
            <a:xfrm>
              <a:off x="762000" y="102870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47" name="Google Shape;147;p16"/>
          <p:cNvPicPr preferRelativeResize="0"/>
          <p:nvPr/>
        </p:nvPicPr>
        <p:blipFill rotWithShape="1">
          <a:blip r:embed="rId4">
            <a:alphaModFix/>
          </a:blip>
          <a:srcRect t="40" b="30"/>
          <a:stretch/>
        </p:blipFill>
        <p:spPr>
          <a:xfrm>
            <a:off x="7810500" y="152400"/>
            <a:ext cx="666900" cy="7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2400"/>
            <a:ext cx="743100" cy="7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/>
          <p:cNvPicPr preferRelativeResize="0"/>
          <p:nvPr/>
        </p:nvPicPr>
        <p:blipFill rotWithShape="1">
          <a:blip r:embed="rId6">
            <a:alphaModFix/>
          </a:blip>
          <a:srcRect t="660" b="-660"/>
          <a:stretch/>
        </p:blipFill>
        <p:spPr>
          <a:xfrm>
            <a:off x="3524250" y="266700"/>
            <a:ext cx="2095500" cy="5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762000" y="114300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0" y="46482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4th International Conference on Artificial Intelligence, Computing Technologies, Internet of Things (IoT) and Data Analytics (AICTA 2026),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October 2-3, 2026, NIT Silchar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Card 301"/>
          <p:cNvSpPr/>
          <p:nvPr/>
        </p:nvSpPr>
        <p:spPr>
          <a:xfrm>
            <a:off x="761695" y="1645920"/>
            <a:ext cx="1802054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28016" tIns="502920" rIns="109728" bIns="7315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200" b="1" i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CNN era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" sz="9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FCN, U-Net, DeepLab [5-7]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Strong dense prediction, but convolutions are local and miss long-range context.</a:t>
            </a:r>
          </a:p>
        </p:txBody>
      </p:sp>
      <p:sp>
        <p:nvSpPr>
          <p:cNvPr id="302" name="Step 302"/>
          <p:cNvSpPr/>
          <p:nvPr/>
        </p:nvSpPr>
        <p:spPr>
          <a:xfrm>
            <a:off x="889711" y="1755648"/>
            <a:ext cx="274320" cy="2743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303" name="Card 303"/>
          <p:cNvSpPr/>
          <p:nvPr/>
        </p:nvSpPr>
        <p:spPr>
          <a:xfrm>
            <a:off x="2700909" y="1645920"/>
            <a:ext cx="1802054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28016" tIns="502920" rIns="109728" bIns="7315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200" b="1" i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Transformers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" sz="9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Vision Transformer [8]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Self-attention captures global relationships across the whole image.</a:t>
            </a:r>
          </a:p>
        </p:txBody>
      </p:sp>
      <p:sp>
        <p:nvSpPr>
          <p:cNvPr id="304" name="Step 304"/>
          <p:cNvSpPr/>
          <p:nvPr/>
        </p:nvSpPr>
        <p:spPr>
          <a:xfrm>
            <a:off x="2828925" y="1755648"/>
            <a:ext cx="274320" cy="2743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305" name="Card 305"/>
          <p:cNvSpPr/>
          <p:nvPr/>
        </p:nvSpPr>
        <p:spPr>
          <a:xfrm>
            <a:off x="4640123" y="1645920"/>
            <a:ext cx="1802054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28016" tIns="502920" rIns="109728" bIns="7315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200" b="1" i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SegFormer and Mask2Former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" sz="9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[2] [3]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Hierarchical encoder with a light MLP decoder; masked attention in a unified mask-classification design.</a:t>
            </a:r>
          </a:p>
        </p:txBody>
      </p:sp>
      <p:sp>
        <p:nvSpPr>
          <p:cNvPr id="306" name="Step 306"/>
          <p:cNvSpPr/>
          <p:nvPr/>
        </p:nvSpPr>
        <p:spPr>
          <a:xfrm>
            <a:off x="4768139" y="1755648"/>
            <a:ext cx="274320" cy="2743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307" name="Card 307"/>
          <p:cNvSpPr/>
          <p:nvPr/>
        </p:nvSpPr>
        <p:spPr>
          <a:xfrm>
            <a:off x="6579337" y="1645920"/>
            <a:ext cx="1802054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28016" tIns="502920" rIns="109728" bIns="73152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200" b="1" i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Underwater work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" sz="9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SUIM [4], UWSegFormer [13] and others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Dataset, enhancement-first pipelines and quality-attention models aimed at underwater degradation.</a:t>
            </a:r>
          </a:p>
        </p:txBody>
      </p:sp>
      <p:sp>
        <p:nvSpPr>
          <p:cNvPr id="308" name="Step 308"/>
          <p:cNvSpPr/>
          <p:nvPr/>
        </p:nvSpPr>
        <p:spPr>
          <a:xfrm>
            <a:off x="6707353" y="1755648"/>
            <a:ext cx="274320" cy="2743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309" name="Gap 309"/>
          <p:cNvSpPr/>
          <p:nvPr/>
        </p:nvSpPr>
        <p:spPr>
          <a:xfrm>
            <a:off x="761695" y="3886200"/>
            <a:ext cx="7619695" cy="5943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  <p:txBody>
          <a:bodyPr wrap="square" lIns="182880" tIns="45720" rIns="182880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The gap: </a:t>
            </a:r>
            <a:r>
              <a:rPr lang="en" sz="11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strong transformer models are trained on terrestrial data, so how well they cope with underwater degradation still has to be measured and adapted.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17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158" name="Google Shape;158;p17"/>
            <p:cNvSpPr/>
            <p:nvPr/>
          </p:nvSpPr>
          <p:spPr>
            <a:xfrm>
              <a:off x="0" y="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0" y="508635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0" name="Google Shape;160;p17"/>
            <p:cNvCxnSpPr/>
            <p:nvPr/>
          </p:nvCxnSpPr>
          <p:spPr>
            <a:xfrm>
              <a:off x="762000" y="102870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61" name="Google Shape;161;p17"/>
          <p:cNvPicPr preferRelativeResize="0"/>
          <p:nvPr/>
        </p:nvPicPr>
        <p:blipFill rotWithShape="1">
          <a:blip r:embed="rId4">
            <a:alphaModFix/>
          </a:blip>
          <a:srcRect t="40" b="30"/>
          <a:stretch/>
        </p:blipFill>
        <p:spPr>
          <a:xfrm>
            <a:off x="7810500" y="152400"/>
            <a:ext cx="666900" cy="7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2400"/>
            <a:ext cx="743100" cy="7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/>
          <p:cNvPicPr preferRelativeResize="0"/>
          <p:nvPr/>
        </p:nvPicPr>
        <p:blipFill rotWithShape="1">
          <a:blip r:embed="rId6">
            <a:alphaModFix/>
          </a:blip>
          <a:srcRect t="660" b="-660"/>
          <a:stretch/>
        </p:blipFill>
        <p:spPr>
          <a:xfrm>
            <a:off x="3524250" y="266700"/>
            <a:ext cx="2095500" cy="5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762000" y="114300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Proposed Work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0" y="46482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4th International Conference on Artificial Intelligence, Computing Technologies, Internet of Things (IoT) and Data Analytics (AICTA 2026),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October 2-3, 2026, NIT Silchar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Card 301"/>
          <p:cNvSpPr/>
          <p:nvPr/>
        </p:nvSpPr>
        <p:spPr>
          <a:xfrm>
            <a:off x="761695" y="1645920"/>
            <a:ext cx="1363005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100" b="1" i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SUIM data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Images + masks resized to 256 x 256</a:t>
            </a:r>
          </a:p>
        </p:txBody>
      </p:sp>
      <p:sp>
        <p:nvSpPr>
          <p:cNvPr id="302" name="Text 302"/>
          <p:cNvSpPr txBox="1"/>
          <p:nvPr/>
        </p:nvSpPr>
        <p:spPr>
          <a:xfrm>
            <a:off x="2124700" y="1645920"/>
            <a:ext cx="201168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</a:p>
        </p:txBody>
      </p:sp>
      <p:sp>
        <p:nvSpPr>
          <p:cNvPr id="303" name="Card 303"/>
          <p:cNvSpPr/>
          <p:nvPr/>
        </p:nvSpPr>
        <p:spPr>
          <a:xfrm>
            <a:off x="2325868" y="1645920"/>
            <a:ext cx="1363005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100" b="1" i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Pretrained model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SegFormer-B2, Mask2Former Swin-S</a:t>
            </a:r>
          </a:p>
        </p:txBody>
      </p:sp>
      <p:sp>
        <p:nvSpPr>
          <p:cNvPr id="304" name="Text 304"/>
          <p:cNvSpPr txBox="1"/>
          <p:nvPr/>
        </p:nvSpPr>
        <p:spPr>
          <a:xfrm>
            <a:off x="3688872" y="1645920"/>
            <a:ext cx="201168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</a:p>
        </p:txBody>
      </p:sp>
      <p:sp>
        <p:nvSpPr>
          <p:cNvPr id="305" name="Card 305"/>
          <p:cNvSpPr/>
          <p:nvPr/>
        </p:nvSpPr>
        <p:spPr>
          <a:xfrm>
            <a:off x="3890040" y="1645920"/>
            <a:ext cx="1363005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100" b="1" i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New head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Final layer set to 8 SUIM classes</a:t>
            </a:r>
          </a:p>
        </p:txBody>
      </p:sp>
      <p:sp>
        <p:nvSpPr>
          <p:cNvPr id="306" name="Text 306"/>
          <p:cNvSpPr txBox="1"/>
          <p:nvPr/>
        </p:nvSpPr>
        <p:spPr>
          <a:xfrm>
            <a:off x="5253045" y="1645920"/>
            <a:ext cx="201168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</a:p>
        </p:txBody>
      </p:sp>
      <p:sp>
        <p:nvSpPr>
          <p:cNvPr id="307" name="Card 307"/>
          <p:cNvSpPr/>
          <p:nvPr/>
        </p:nvSpPr>
        <p:spPr>
          <a:xfrm>
            <a:off x="5454213" y="1645920"/>
            <a:ext cx="1363005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100" b="1" i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Fine-tune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AdamW, batch 8, 10 epochs</a:t>
            </a:r>
          </a:p>
        </p:txBody>
      </p:sp>
      <p:sp>
        <p:nvSpPr>
          <p:cNvPr id="308" name="Text 308"/>
          <p:cNvSpPr txBox="1"/>
          <p:nvPr/>
        </p:nvSpPr>
        <p:spPr>
          <a:xfrm>
            <a:off x="6817218" y="1645920"/>
            <a:ext cx="201168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</a:p>
        </p:txBody>
      </p:sp>
      <p:sp>
        <p:nvSpPr>
          <p:cNvPr id="309" name="Card 309"/>
          <p:cNvSpPr/>
          <p:nvPr/>
        </p:nvSpPr>
        <p:spPr>
          <a:xfrm>
            <a:off x="7018386" y="1645920"/>
            <a:ext cx="1363005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73152" tIns="45720" rIns="73152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100" b="1" i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IoU, Dice, Pixel Accuracy</a:t>
            </a:r>
          </a:p>
        </p:txBody>
      </p:sp>
      <p:sp>
        <p:nvSpPr>
          <p:cNvPr id="310" name="Card 310"/>
          <p:cNvSpPr/>
          <p:nvPr/>
        </p:nvSpPr>
        <p:spPr>
          <a:xfrm>
            <a:off x="761695" y="2697480"/>
            <a:ext cx="3732124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SEGFORMER-B2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Hierarchical encoder + lightweight MLP decoder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ADE20K-pretrained, 27.4M trainable parameters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Pixel-wise cross-entropy loss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Learning rate 6e-5</a:t>
            </a:r>
          </a:p>
        </p:txBody>
      </p:sp>
      <p:sp>
        <p:nvSpPr>
          <p:cNvPr id="311" name="Card 311"/>
          <p:cNvSpPr/>
          <p:nvPr/>
        </p:nvSpPr>
        <p:spPr>
          <a:xfrm>
            <a:off x="4649267" y="2697480"/>
            <a:ext cx="3732124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MASK2FORMER (SWIN-SMALL)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Masked attention with learned queries, 68.7M parameters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Loss: BCE + Dice (weight 5 each) + classification (weight 2)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Bipartite matching of queries to ground truth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1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Learning rate 1e-5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18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172" name="Google Shape;172;p18"/>
            <p:cNvSpPr/>
            <p:nvPr/>
          </p:nvSpPr>
          <p:spPr>
            <a:xfrm>
              <a:off x="0" y="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0" y="508635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4" name="Google Shape;174;p18"/>
            <p:cNvCxnSpPr/>
            <p:nvPr/>
          </p:nvCxnSpPr>
          <p:spPr>
            <a:xfrm>
              <a:off x="762000" y="102870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75" name="Google Shape;175;p18"/>
          <p:cNvPicPr preferRelativeResize="0"/>
          <p:nvPr/>
        </p:nvPicPr>
        <p:blipFill rotWithShape="1">
          <a:blip r:embed="rId4">
            <a:alphaModFix/>
          </a:blip>
          <a:srcRect t="40" b="30"/>
          <a:stretch/>
        </p:blipFill>
        <p:spPr>
          <a:xfrm>
            <a:off x="7810500" y="152400"/>
            <a:ext cx="666900" cy="7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2400"/>
            <a:ext cx="743100" cy="7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/>
          <p:cNvPicPr preferRelativeResize="0"/>
          <p:nvPr/>
        </p:nvPicPr>
        <p:blipFill rotWithShape="1">
          <a:blip r:embed="rId6">
            <a:alphaModFix/>
          </a:blip>
          <a:srcRect t="660" b="-660"/>
          <a:stretch/>
        </p:blipFill>
        <p:spPr>
          <a:xfrm>
            <a:off x="3524250" y="266700"/>
            <a:ext cx="2095500" cy="5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762000" y="114300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Dataset Description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0" y="46482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4th International Conference on Artificial Intelligence, Computing Technologies, Internet of Things (IoT) and Data Analytics (AICTA 2026),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October 2-3, 2026, NIT Silchar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Card 301"/>
          <p:cNvSpPr/>
          <p:nvPr/>
        </p:nvSpPr>
        <p:spPr>
          <a:xfrm>
            <a:off x="761695" y="1645920"/>
            <a:ext cx="178833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1,500+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</a:p>
        </p:txBody>
      </p:sp>
      <p:sp>
        <p:nvSpPr>
          <p:cNvPr id="302" name="Card 302"/>
          <p:cNvSpPr/>
          <p:nvPr/>
        </p:nvSpPr>
        <p:spPr>
          <a:xfrm>
            <a:off x="2705481" y="1645920"/>
            <a:ext cx="178833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semantic classes</a:t>
            </a:r>
          </a:p>
        </p:txBody>
      </p:sp>
      <p:sp>
        <p:nvSpPr>
          <p:cNvPr id="303" name="Card 303"/>
          <p:cNvSpPr/>
          <p:nvPr/>
        </p:nvSpPr>
        <p:spPr>
          <a:xfrm>
            <a:off x="4649267" y="1645920"/>
            <a:ext cx="178833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256 x 256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input size</a:t>
            </a:r>
          </a:p>
        </p:txBody>
      </p:sp>
      <p:sp>
        <p:nvSpPr>
          <p:cNvPr id="304" name="Card 304"/>
          <p:cNvSpPr/>
          <p:nvPr/>
        </p:nvSpPr>
        <p:spPr>
          <a:xfrm>
            <a:off x="6593053" y="1645920"/>
            <a:ext cx="178833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70:15:15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train / valid / test</a:t>
            </a:r>
          </a:p>
        </p:txBody>
      </p:sp>
      <p:sp>
        <p:nvSpPr>
          <p:cNvPr id="305" name="Card 305"/>
          <p:cNvSpPr/>
          <p:nvPr/>
        </p:nvSpPr>
        <p:spPr>
          <a:xfrm>
            <a:off x="761695" y="2743200"/>
            <a:ext cx="44805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SUIM OBJECT CATEGORIES</a:t>
            </a:r>
          </a:p>
        </p:txBody>
      </p:sp>
      <p:sp>
        <p:nvSpPr>
          <p:cNvPr id="306" name="Chip 306"/>
          <p:cNvSpPr/>
          <p:nvPr/>
        </p:nvSpPr>
        <p:spPr>
          <a:xfrm>
            <a:off x="898855" y="3090672"/>
            <a:ext cx="1594714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txBody>
          <a:bodyPr wrap="square" lIns="27432" tIns="0" rIns="27432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Fish (vertebrates)</a:t>
            </a:r>
          </a:p>
        </p:txBody>
      </p:sp>
      <p:sp>
        <p:nvSpPr>
          <p:cNvPr id="307" name="Chip 307"/>
          <p:cNvSpPr/>
          <p:nvPr/>
        </p:nvSpPr>
        <p:spPr>
          <a:xfrm>
            <a:off x="2585009" y="3090672"/>
            <a:ext cx="1808683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txBody>
          <a:bodyPr wrap="square" lIns="27432" tIns="0" rIns="27432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Reefs (invertebrates)</a:t>
            </a:r>
          </a:p>
        </p:txBody>
      </p:sp>
      <p:sp>
        <p:nvSpPr>
          <p:cNvPr id="308" name="Chip 308"/>
          <p:cNvSpPr/>
          <p:nvPr/>
        </p:nvSpPr>
        <p:spPr>
          <a:xfrm>
            <a:off x="898855" y="3511296"/>
            <a:ext cx="1309421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txBody>
          <a:bodyPr wrap="square" lIns="27432" tIns="0" rIns="27432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Aquatic plants</a:t>
            </a:r>
          </a:p>
        </p:txBody>
      </p:sp>
      <p:sp>
        <p:nvSpPr>
          <p:cNvPr id="309" name="Chip 309"/>
          <p:cNvSpPr/>
          <p:nvPr/>
        </p:nvSpPr>
        <p:spPr>
          <a:xfrm>
            <a:off x="2299716" y="3511296"/>
            <a:ext cx="1309421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txBody>
          <a:bodyPr wrap="square" lIns="27432" tIns="0" rIns="27432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Wrecks / ruins</a:t>
            </a:r>
          </a:p>
        </p:txBody>
      </p:sp>
      <p:sp>
        <p:nvSpPr>
          <p:cNvPr id="310" name="Chip 310"/>
          <p:cNvSpPr/>
          <p:nvPr/>
        </p:nvSpPr>
        <p:spPr>
          <a:xfrm>
            <a:off x="3700577" y="3511296"/>
            <a:ext cx="1166774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txBody>
          <a:bodyPr wrap="square" lIns="27432" tIns="0" rIns="27432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Human divers</a:t>
            </a:r>
          </a:p>
        </p:txBody>
      </p:sp>
      <p:sp>
        <p:nvSpPr>
          <p:cNvPr id="311" name="Chip 311"/>
          <p:cNvSpPr/>
          <p:nvPr/>
        </p:nvSpPr>
        <p:spPr>
          <a:xfrm>
            <a:off x="898855" y="3931920"/>
            <a:ext cx="738835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txBody>
          <a:bodyPr wrap="square" lIns="27432" tIns="0" rIns="27432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Robots</a:t>
            </a:r>
          </a:p>
        </p:txBody>
      </p:sp>
      <p:sp>
        <p:nvSpPr>
          <p:cNvPr id="312" name="Chip 312"/>
          <p:cNvSpPr/>
          <p:nvPr/>
        </p:nvSpPr>
        <p:spPr>
          <a:xfrm>
            <a:off x="1729130" y="3931920"/>
            <a:ext cx="952805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txBody>
          <a:bodyPr wrap="square" lIns="27432" tIns="0" rIns="27432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>
                <a:solidFill>
                  <a:srgbClr val="0369A1"/>
                </a:solidFill>
                <a:latin typeface="Arial"/>
                <a:ea typeface="Arial"/>
                <a:cs typeface="Arial"/>
                <a:sym typeface="Arial"/>
              </a:rPr>
              <a:t>Sea-floor</a:t>
            </a:r>
          </a:p>
        </p:txBody>
      </p:sp>
      <p:sp>
        <p:nvSpPr>
          <p:cNvPr id="313" name="Card 313"/>
          <p:cNvSpPr/>
          <p:nvPr/>
        </p:nvSpPr>
        <p:spPr>
          <a:xfrm>
            <a:off x="5397703" y="2743200"/>
            <a:ext cx="2983687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HOW IT WAS PREPARED</a:t>
            </a:r>
          </a:p>
          <a:p>
            <a:pPr marL="171450" indent="-171450" algn="l">
              <a:spcBef>
                <a:spcPts val="3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0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Collected during underwater exploration and human-robot studies</a:t>
            </a:r>
          </a:p>
          <a:p>
            <a:pPr marL="171450" indent="-171450" algn="l">
              <a:spcBef>
                <a:spcPts val="3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0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Pixel-level masks annotated by trained annotators</a:t>
            </a:r>
          </a:p>
          <a:p>
            <a:pPr marL="171450" indent="-171450" algn="l">
              <a:spcBef>
                <a:spcPts val="3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0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Color-coded masks converted to class indices 0-7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19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186" name="Google Shape;186;p19"/>
            <p:cNvSpPr/>
            <p:nvPr/>
          </p:nvSpPr>
          <p:spPr>
            <a:xfrm>
              <a:off x="0" y="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0" y="508635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8" name="Google Shape;188;p19"/>
            <p:cNvCxnSpPr/>
            <p:nvPr/>
          </p:nvCxnSpPr>
          <p:spPr>
            <a:xfrm>
              <a:off x="762000" y="102870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89" name="Google Shape;189;p19"/>
          <p:cNvPicPr preferRelativeResize="0"/>
          <p:nvPr/>
        </p:nvPicPr>
        <p:blipFill rotWithShape="1">
          <a:blip r:embed="rId4">
            <a:alphaModFix/>
          </a:blip>
          <a:srcRect t="40" b="30"/>
          <a:stretch/>
        </p:blipFill>
        <p:spPr>
          <a:xfrm>
            <a:off x="7810500" y="152400"/>
            <a:ext cx="666900" cy="7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2400"/>
            <a:ext cx="743100" cy="7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6">
            <a:alphaModFix/>
          </a:blip>
          <a:srcRect t="660" b="-660"/>
          <a:stretch/>
        </p:blipFill>
        <p:spPr>
          <a:xfrm>
            <a:off x="3524250" y="266700"/>
            <a:ext cx="2095500" cy="5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762000" y="114300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Performance Measures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0" y="46482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4th International Conference on Artificial Intelligence, Computing Technologies, Internet of Things (IoT) and Data Analytics (AICTA 2026),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October 2-3, 2026, NIT Silchar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Card 301"/>
          <p:cNvSpPr/>
          <p:nvPr/>
        </p:nvSpPr>
        <p:spPr>
          <a:xfrm>
            <a:off x="761695" y="1645920"/>
            <a:ext cx="2436266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37160" tIns="137160" rIns="13716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50" b="1" i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Intersection over Union</a:t>
            </a:r>
          </a:p>
        </p:txBody>
      </p:sp>
      <p:sp>
        <p:nvSpPr>
          <p:cNvPr id="302" name="Formula 302"/>
          <p:cNvSpPr/>
          <p:nvPr/>
        </p:nvSpPr>
        <p:spPr>
          <a:xfrm>
            <a:off x="898855" y="2194560"/>
            <a:ext cx="2161946" cy="59436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i="0">
                <a:solidFill>
                  <a:srgbClr val="0369A1"/>
                </a:solidFill>
                <a:latin typeface="Cambria"/>
                <a:ea typeface="Cambria"/>
                <a:cs typeface="Cambria"/>
                <a:sym typeface="Cambria"/>
              </a:rPr>
              <a:t>IoU = |P ∩ G| / |P ∪ G|</a:t>
            </a:r>
          </a:p>
        </p:txBody>
      </p:sp>
      <p:sp>
        <p:nvSpPr>
          <p:cNvPr id="303" name="Text 303"/>
          <p:cNvSpPr txBox="1"/>
          <p:nvPr/>
        </p:nvSpPr>
        <p:spPr>
          <a:xfrm>
            <a:off x="898855" y="2880360"/>
            <a:ext cx="216194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Overlap between predicted and true regions, relative to their union.</a:t>
            </a:r>
          </a:p>
        </p:txBody>
      </p:sp>
      <p:sp>
        <p:nvSpPr>
          <p:cNvPr id="304" name="Card 304"/>
          <p:cNvSpPr/>
          <p:nvPr/>
        </p:nvSpPr>
        <p:spPr>
          <a:xfrm>
            <a:off x="3353410" y="1645920"/>
            <a:ext cx="2436266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37160" tIns="137160" rIns="13716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50" b="1" i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Dice Score</a:t>
            </a:r>
          </a:p>
        </p:txBody>
      </p:sp>
      <p:sp>
        <p:nvSpPr>
          <p:cNvPr id="305" name="Formula 305"/>
          <p:cNvSpPr/>
          <p:nvPr/>
        </p:nvSpPr>
        <p:spPr>
          <a:xfrm>
            <a:off x="3490570" y="2194560"/>
            <a:ext cx="2161946" cy="59436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i="0">
                <a:solidFill>
                  <a:srgbClr val="0369A1"/>
                </a:solidFill>
                <a:latin typeface="Cambria"/>
                <a:ea typeface="Cambria"/>
                <a:cs typeface="Cambria"/>
                <a:sym typeface="Cambria"/>
              </a:rPr>
              <a:t>Dice = 2|P ∩ G| / (|P| + |G|)</a:t>
            </a:r>
          </a:p>
        </p:txBody>
      </p:sp>
      <p:sp>
        <p:nvSpPr>
          <p:cNvPr id="306" name="Text 306"/>
          <p:cNvSpPr txBox="1"/>
          <p:nvPr/>
        </p:nvSpPr>
        <p:spPr>
          <a:xfrm>
            <a:off x="3490570" y="2880360"/>
            <a:ext cx="216194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Also rewards overlap, but counts it twice, so it is gentler on small regions.</a:t>
            </a:r>
          </a:p>
        </p:txBody>
      </p:sp>
      <p:sp>
        <p:nvSpPr>
          <p:cNvPr id="307" name="Card 307"/>
          <p:cNvSpPr/>
          <p:nvPr/>
        </p:nvSpPr>
        <p:spPr>
          <a:xfrm>
            <a:off x="5945124" y="1645920"/>
            <a:ext cx="2436266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37160" tIns="137160" rIns="13716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50" b="1" i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Pixel Accuracy</a:t>
            </a:r>
          </a:p>
        </p:txBody>
      </p:sp>
      <p:sp>
        <p:nvSpPr>
          <p:cNvPr id="308" name="Formula 308"/>
          <p:cNvSpPr/>
          <p:nvPr/>
        </p:nvSpPr>
        <p:spPr>
          <a:xfrm>
            <a:off x="6082284" y="2194560"/>
            <a:ext cx="2161946" cy="59436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i="0">
                <a:solidFill>
                  <a:srgbClr val="0369A1"/>
                </a:solidFill>
                <a:latin typeface="Cambria"/>
                <a:ea typeface="Cambria"/>
                <a:cs typeface="Cambria"/>
                <a:sym typeface="Cambria"/>
              </a:rPr>
              <a:t>PA = correct pixels / all pixels</a:t>
            </a:r>
          </a:p>
        </p:txBody>
      </p:sp>
      <p:sp>
        <p:nvSpPr>
          <p:cNvPr id="309" name="Text 309"/>
          <p:cNvSpPr txBox="1"/>
          <p:nvPr/>
        </p:nvSpPr>
        <p:spPr>
          <a:xfrm>
            <a:off x="6082284" y="2880360"/>
            <a:ext cx="216194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Share of pixels given the right label; large classes can dominate it.</a:t>
            </a:r>
          </a:p>
        </p:txBody>
      </p:sp>
      <p:sp>
        <p:nvSpPr>
          <p:cNvPr id="310" name="Note 310"/>
          <p:cNvSpPr/>
          <p:nvPr/>
        </p:nvSpPr>
        <p:spPr>
          <a:xfrm>
            <a:off x="761695" y="3886200"/>
            <a:ext cx="7619695" cy="5943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  <p:txBody>
          <a:bodyPr wrap="square" lIns="182880" tIns="45720" rIns="182880" bIns="4572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" sz="11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= predicted mask, </a:t>
            </a:r>
            <a:r>
              <a:rPr lang="en" sz="11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" sz="11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= ground truth.   Training loss: cross-entropy (SegFormer); BCE + Dice + classification (Mask2Former).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20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200" name="Google Shape;200;p20"/>
            <p:cNvSpPr/>
            <p:nvPr/>
          </p:nvSpPr>
          <p:spPr>
            <a:xfrm>
              <a:off x="0" y="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0" y="508635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2" name="Google Shape;202;p20"/>
            <p:cNvCxnSpPr/>
            <p:nvPr/>
          </p:nvCxnSpPr>
          <p:spPr>
            <a:xfrm>
              <a:off x="762000" y="102870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03" name="Google Shape;203;p20"/>
          <p:cNvPicPr preferRelativeResize="0"/>
          <p:nvPr/>
        </p:nvPicPr>
        <p:blipFill rotWithShape="1">
          <a:blip r:embed="rId4">
            <a:alphaModFix/>
          </a:blip>
          <a:srcRect t="40" b="30"/>
          <a:stretch/>
        </p:blipFill>
        <p:spPr>
          <a:xfrm>
            <a:off x="7810500" y="152400"/>
            <a:ext cx="666900" cy="7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2400"/>
            <a:ext cx="743100" cy="7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6">
            <a:alphaModFix/>
          </a:blip>
          <a:srcRect t="660" b="-660"/>
          <a:stretch/>
        </p:blipFill>
        <p:spPr>
          <a:xfrm>
            <a:off x="3524250" y="266700"/>
            <a:ext cx="2095500" cy="5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762000" y="114300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Results and Analysis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0" y="46482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4th International Conference on Artificial Intelligence, Computing Technologies, Internet of Things (IoT) and Data Analytics (AICTA 2026),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October 2-3, 2026, NIT Silchar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 txBox="1">
            <a:spLocks noGrp="1"/>
          </p:cNvSpPr>
          <p:nvPr>
            <p:ph type="body" idx="1"/>
          </p:nvPr>
        </p:nvSpPr>
        <p:spPr>
          <a:xfrm>
            <a:off x="311700" y="1541950"/>
            <a:ext cx="8520600" cy="30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209" name="Results table"/>
          <p:cNvGraphicFramePr/>
          <p:nvPr/>
        </p:nvGraphicFramePr>
        <p:xfrm>
          <a:off x="761695" y="1627632"/>
          <a:ext cx="7619695" cy="1234440"/>
        </p:xfrm>
        <a:graphic>
          <a:graphicData uri="http://schemas.openxmlformats.org/drawingml/2006/table">
            <a:tbl>
              <a:tblPr firstRow="1"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" sz="10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IoU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Dice Score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Pixel Accuracy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Time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" sz="1050" b="0" i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SegFormer (before)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0" i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0.0362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0" i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0.0580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0" i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0.1854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0" i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" sz="1050" b="1" i="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SegFormer (after)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1" i="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0.6163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1" i="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0.7023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1" i="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0.8646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1" i="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350 min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" sz="1050" b="0" i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Mask2Former (before)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0" i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0.0236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0" i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0.0398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0" i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0.0747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0" i="0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" sz="1050" b="1" i="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Mask2Former (after)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1" i="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0.6326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1" i="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0.7110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1" i="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0.8808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050" b="1" i="0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 min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01" name="Picture 301" descr="Segmentation performance bar chart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761695" y="2926080"/>
            <a:ext cx="2855167" cy="155448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302" name="Card 302"/>
          <p:cNvSpPr/>
          <p:nvPr/>
        </p:nvSpPr>
        <p:spPr>
          <a:xfrm>
            <a:off x="3772311" y="2926080"/>
            <a:ext cx="460908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37160" tIns="91440" rIns="109728" bIns="4572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WHAT STANDS OUT</a:t>
            </a:r>
          </a:p>
          <a:p>
            <a:pPr marL="171450" indent="-171450" algn="l">
              <a:spcBef>
                <a:spcPts val="3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0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IoU jumps from 0.036 to 0.616 (SegFormer) and 0.024 to 0.633 (Mask2Former)</a:t>
            </a:r>
          </a:p>
          <a:p>
            <a:pPr marL="171450" indent="-171450" algn="l">
              <a:spcBef>
                <a:spcPts val="3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0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Mask2Former ends slightly ahead on every metric</a:t>
            </a:r>
          </a:p>
          <a:p>
            <a:pPr marL="171450" indent="-171450" algn="l">
              <a:spcBef>
                <a:spcPts val="3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0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It converges in about 70 min versus 350 min for SegFormer</a:t>
            </a:r>
          </a:p>
          <a:p>
            <a:pPr marL="171450" indent="-171450" algn="l">
              <a:spcBef>
                <a:spcPts val="3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0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Larger model (68.7M vs 27.4M parameters), same ~0.9 s inference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21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215" name="Google Shape;215;p21"/>
            <p:cNvSpPr/>
            <p:nvPr/>
          </p:nvSpPr>
          <p:spPr>
            <a:xfrm>
              <a:off x="0" y="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0" y="508635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7" name="Google Shape;217;p21"/>
            <p:cNvCxnSpPr/>
            <p:nvPr/>
          </p:nvCxnSpPr>
          <p:spPr>
            <a:xfrm>
              <a:off x="762000" y="102870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18" name="Google Shape;218;p21"/>
          <p:cNvPicPr preferRelativeResize="0"/>
          <p:nvPr/>
        </p:nvPicPr>
        <p:blipFill rotWithShape="1">
          <a:blip r:embed="rId4">
            <a:alphaModFix/>
          </a:blip>
          <a:srcRect t="40" b="30"/>
          <a:stretch/>
        </p:blipFill>
        <p:spPr>
          <a:xfrm>
            <a:off x="7810500" y="152400"/>
            <a:ext cx="666900" cy="7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2400"/>
            <a:ext cx="743100" cy="7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/>
          <p:cNvPicPr preferRelativeResize="0"/>
          <p:nvPr/>
        </p:nvPicPr>
        <p:blipFill rotWithShape="1">
          <a:blip r:embed="rId6">
            <a:alphaModFix/>
          </a:blip>
          <a:srcRect t="660" b="-660"/>
          <a:stretch/>
        </p:blipFill>
        <p:spPr>
          <a:xfrm>
            <a:off x="3524250" y="266700"/>
            <a:ext cx="2095500" cy="5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762000" y="114300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Conclusion &amp; Future Scope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0" y="46482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4th International Conference on Artificial Intelligence, Computing Technologies, Internet of Things (IoT) and Data Analytics (AICTA 2026),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October 2-3, 2026, NIT Silchar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Card 301"/>
          <p:cNvSpPr/>
          <p:nvPr/>
        </p:nvSpPr>
        <p:spPr>
          <a:xfrm>
            <a:off x="761695" y="1645920"/>
            <a:ext cx="3732124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2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Fine-tuning on SUIM lifts both models from near-failure to usable underwater segmentation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2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Gains appear across IoU, Dice and pixel accuracy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2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Adapting pretrained transformers narrows the domain-shift gap and improves semantic consistency</a:t>
            </a:r>
          </a:p>
        </p:txBody>
      </p:sp>
      <p:sp>
        <p:nvSpPr>
          <p:cNvPr id="302" name="Card 302"/>
          <p:cNvSpPr/>
          <p:nvPr/>
        </p:nvSpPr>
        <p:spPr>
          <a:xfrm>
            <a:off x="4649267" y="1645920"/>
            <a:ext cx="3732124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37160" tIns="109728" rIns="13716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2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Extend the approach to datasets from multiple domains</a:t>
            </a:r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0284C7"/>
              </a:buClr>
              <a:buSzPct val="100000"/>
              <a:buFont typeface="Arial"/>
              <a:buChar char="•"/>
            </a:pPr>
            <a:r>
              <a:rPr lang="en" sz="120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Evaluate with a range of foundation models to look for further gains</a:t>
            </a:r>
          </a:p>
        </p:txBody>
      </p:sp>
      <p:sp>
        <p:nvSpPr>
          <p:cNvPr id="303" name="Stat 303"/>
          <p:cNvSpPr/>
          <p:nvPr/>
        </p:nvSpPr>
        <p:spPr>
          <a:xfrm>
            <a:off x="761695" y="3794760"/>
            <a:ext cx="2436266" cy="685800"/>
          </a:xfrm>
          <a:prstGeom prst="roundRect">
            <a:avLst>
              <a:gd name="adj" fmla="val 14000"/>
            </a:avLst>
          </a:prstGeom>
          <a:solidFill>
            <a:srgbClr val="0F172A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0.036 → 0.616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BAE6FD"/>
                </a:solidFill>
                <a:latin typeface="Arial"/>
                <a:ea typeface="Arial"/>
                <a:cs typeface="Arial"/>
                <a:sym typeface="Arial"/>
              </a:rPr>
              <a:t>SegFormer IoU</a:t>
            </a:r>
          </a:p>
        </p:txBody>
      </p:sp>
      <p:sp>
        <p:nvSpPr>
          <p:cNvPr id="304" name="Stat 304"/>
          <p:cNvSpPr/>
          <p:nvPr/>
        </p:nvSpPr>
        <p:spPr>
          <a:xfrm>
            <a:off x="3353410" y="3794760"/>
            <a:ext cx="2436266" cy="685800"/>
          </a:xfrm>
          <a:prstGeom prst="roundRect">
            <a:avLst>
              <a:gd name="adj" fmla="val 14000"/>
            </a:avLst>
          </a:prstGeom>
          <a:solidFill>
            <a:srgbClr val="0F172A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0.024 → 0.633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BAE6FD"/>
                </a:solidFill>
                <a:latin typeface="Arial"/>
                <a:ea typeface="Arial"/>
                <a:cs typeface="Arial"/>
                <a:sym typeface="Arial"/>
              </a:rPr>
              <a:t>Mask2Former IoU</a:t>
            </a:r>
          </a:p>
        </p:txBody>
      </p:sp>
      <p:sp>
        <p:nvSpPr>
          <p:cNvPr id="305" name="Stat 305"/>
          <p:cNvSpPr/>
          <p:nvPr/>
        </p:nvSpPr>
        <p:spPr>
          <a:xfrm>
            <a:off x="5945124" y="3794760"/>
            <a:ext cx="2436266" cy="685800"/>
          </a:xfrm>
          <a:prstGeom prst="roundRect">
            <a:avLst>
              <a:gd name="adj" fmla="val 14000"/>
            </a:avLst>
          </a:prstGeom>
          <a:solidFill>
            <a:srgbClr val="0F172A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70 vs 350 min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BAE6FD"/>
                </a:solidFill>
                <a:latin typeface="Arial"/>
                <a:ea typeface="Arial"/>
                <a:cs typeface="Arial"/>
                <a:sym typeface="Arial"/>
              </a:rPr>
              <a:t>Mask2Former vs SegFormer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22"/>
          <p:cNvGrpSpPr/>
          <p:nvPr/>
        </p:nvGrpSpPr>
        <p:grpSpPr>
          <a:xfrm>
            <a:off x="0" y="0"/>
            <a:ext cx="9144000" cy="5143650"/>
            <a:chOff x="0" y="0"/>
            <a:chExt cx="9144000" cy="5143650"/>
          </a:xfrm>
        </p:grpSpPr>
        <p:sp>
          <p:nvSpPr>
            <p:cNvPr id="229" name="Google Shape;229;p22"/>
            <p:cNvSpPr/>
            <p:nvPr/>
          </p:nvSpPr>
          <p:spPr>
            <a:xfrm>
              <a:off x="0" y="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0" y="5086350"/>
              <a:ext cx="91440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1" name="Google Shape;231;p22"/>
            <p:cNvCxnSpPr/>
            <p:nvPr/>
          </p:nvCxnSpPr>
          <p:spPr>
            <a:xfrm>
              <a:off x="762000" y="102870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32" name="Google Shape;232;p22"/>
          <p:cNvPicPr preferRelativeResize="0"/>
          <p:nvPr/>
        </p:nvPicPr>
        <p:blipFill rotWithShape="1">
          <a:blip r:embed="rId4">
            <a:alphaModFix/>
          </a:blip>
          <a:srcRect t="40" b="30"/>
          <a:stretch/>
        </p:blipFill>
        <p:spPr>
          <a:xfrm>
            <a:off x="7810500" y="152400"/>
            <a:ext cx="666900" cy="7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2400"/>
            <a:ext cx="743100" cy="7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/>
          <p:cNvPicPr preferRelativeResize="0"/>
          <p:nvPr/>
        </p:nvPicPr>
        <p:blipFill rotWithShape="1">
          <a:blip r:embed="rId6">
            <a:alphaModFix/>
          </a:blip>
          <a:srcRect t="660" b="-660"/>
          <a:stretch/>
        </p:blipFill>
        <p:spPr>
          <a:xfrm>
            <a:off x="3524250" y="266700"/>
            <a:ext cx="2095500" cy="5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762000" y="1143000"/>
            <a:ext cx="7620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0" y="46482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4th International Conference on Artificial Intelligence, Computing Technologies, Internet of Things (IoT) and Data Analytics (AICTA 2026),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October 2-3, 2026, NIT Silchar</a:t>
            </a:r>
            <a:endParaRPr sz="950" b="1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Card 301"/>
          <p:cNvSpPr/>
          <p:nvPr/>
        </p:nvSpPr>
        <p:spPr>
          <a:xfrm>
            <a:off x="761695" y="1645920"/>
            <a:ext cx="3732124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37160" tIns="109728" rIns="13716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[1]  </a:t>
            </a:r>
            <a:r>
              <a:rPr lang="en" sz="8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A. Vaswani et al., Attention is all you need, NeurIPS (NIPS’17), 2017.</a:t>
            </a:r>
          </a:p>
          <a:p>
            <a:pPr mar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5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[2]  </a:t>
            </a:r>
            <a:r>
              <a:rPr lang="en" sz="8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E. Xie et al., SegFormer: Simple and efficient design for semantic segmentation with transformers, NeurIPS 34, 2021, pp. 12077–12090.</a:t>
            </a:r>
          </a:p>
          <a:p>
            <a:pPr mar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5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[3]  </a:t>
            </a:r>
            <a:r>
              <a:rPr lang="en" sz="8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B. Cheng et al., Mask2Former for video instance segmentation, arXiv:2112.10764, 2021.</a:t>
            </a:r>
          </a:p>
          <a:p>
            <a:pPr mar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5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[4]  </a:t>
            </a:r>
            <a:r>
              <a:rPr lang="en" sz="8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M.J. Islam et al., Semantic segmentation of underwater imagery: Dataset and benchmark, IROS 2020, pp. 1769–1776.</a:t>
            </a:r>
          </a:p>
          <a:p>
            <a:pPr mar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5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[5]  </a:t>
            </a:r>
            <a:r>
              <a:rPr lang="en" sz="8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J. Long, E. Shelhamer, T. Darrell, Fully convolutional networks for semantic segmentation, CVPR 2015, pp. 3431–3440.</a:t>
            </a:r>
          </a:p>
          <a:p>
            <a:pPr mar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5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[6]  </a:t>
            </a:r>
            <a:r>
              <a:rPr lang="en" sz="8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Z. Su et al., An improved U-Net method for the semantic segmentation of remote sensing images, Applied Intelligence 52(3), 2022, pp. 3276–3288.</a:t>
            </a:r>
          </a:p>
          <a:p>
            <a:pPr mar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5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[7]  </a:t>
            </a:r>
            <a:r>
              <a:rPr lang="en" sz="8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L.-C. Chen et al., DeepLab: Semantic image segmentation with deep convolutional nets, atrous convolution, and fully connected CRFs, IEEE TPAMI 40(4), 2018, pp. 834–848.</a:t>
            </a:r>
          </a:p>
        </p:txBody>
      </p:sp>
      <p:sp>
        <p:nvSpPr>
          <p:cNvPr id="302" name="Card 302"/>
          <p:cNvSpPr/>
          <p:nvPr/>
        </p:nvSpPr>
        <p:spPr>
          <a:xfrm>
            <a:off x="4649267" y="1645920"/>
            <a:ext cx="3732124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37160" tIns="109728" rIns="13716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[8]  </a:t>
            </a:r>
            <a:r>
              <a:rPr lang="en" sz="8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A. Dosovitskiy et al., An image is worth 16x16 words: Transformers for image recognition at scale, arXiv:2010.11929, 2021.</a:t>
            </a:r>
          </a:p>
          <a:p>
            <a:pPr mar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5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[9]  </a:t>
            </a:r>
            <a:r>
              <a:rPr lang="en" sz="8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C. Li et al., An underwater image enhancement benchmark dataset and beyond, IEEE TIP 29, 2020, pp. 4376–4389.</a:t>
            </a:r>
          </a:p>
          <a:p>
            <a:pPr mar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5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[10]  </a:t>
            </a:r>
            <a:r>
              <a:rPr lang="en" sz="8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F. Liu, M. Fang, Semantic segmentation of underwater images based on improved DeepLab, J. Mar. Sci. Eng. 8(3), 2020.</a:t>
            </a:r>
          </a:p>
          <a:p>
            <a:pPr mar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5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[11]  </a:t>
            </a:r>
            <a:r>
              <a:rPr lang="en" sz="8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J. Wang et al., SPPF-CGA: Marine garbage detection and image enhancement in turbid and high-dynamic underwater environments, J. Ocean Univ. China 24, 2025, pp. 1301–1314.</a:t>
            </a:r>
          </a:p>
          <a:p>
            <a:pPr mar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5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[12]  </a:t>
            </a:r>
            <a:r>
              <a:rPr lang="en" sz="8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Z. Liu et al., Swin Transformer: Hierarchical vision transformer using shifted windows, ICCV 2021, pp. 10012–10022.</a:t>
            </a:r>
          </a:p>
          <a:p>
            <a:pPr mar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50" b="1" i="0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[13]  </a:t>
            </a:r>
            <a:r>
              <a:rPr lang="en" sz="850" b="0" i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X. Zuo et al., Improving underwater semantic segmentation with underwater image quality attention and multi-scale aggregation attention, Pattern Anal. Appl. 28(2),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1721</Words>
  <Application>Microsoft Office PowerPoint</Application>
  <PresentationFormat>On-screen Show (16:9)</PresentationFormat>
  <Paragraphs>198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Cambria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Santosh Anand</cp:lastModifiedBy>
  <cp:revision>2</cp:revision>
  <dcterms:modified xsi:type="dcterms:W3CDTF">2026-10-03T10:59:06Z</dcterms:modified>
</cp:coreProperties>
</file>